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23360"/>
            <a:ext cx="5852160" cy="2834640"/>
          </a:xfrm>
          <a:prstGeom prst="rtTriangle">
            <a:avLst/>
          </a:prstGeom>
          <a:solidFill>
            <a:srgbClr val="4A7EBB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3840480" cy="1828800"/>
          </a:xfrm>
          <a:prstGeom prst="rtTriangle">
            <a:avLst/>
          </a:prstGeom>
          <a:solidFill>
            <a:srgbClr val="1B3A6B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0800000">
            <a:off x="7985455" y="0"/>
            <a:ext cx="4206240" cy="219456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QC-Team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一份作业发过来，我能保证什么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96112" y="3310128"/>
            <a:ext cx="9144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4A7EB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ACADEMIC  QC  PIPELINE   ·   COMMAND-LINE  AGENT  TEAM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96112" y="3767328"/>
            <a:ext cx="822960" cy="36576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395020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王彩迪　|　命令行课 · 第三课汇报　|　2026 年 8 月 25 日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454335" y="6080760"/>
            <a:ext cx="118872" cy="118872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10367" y="6080760"/>
            <a:ext cx="118872" cy="118872"/>
          </a:xfrm>
          <a:prstGeom prst="ellipse">
            <a:avLst/>
          </a:prstGeom>
          <a:solidFill>
            <a:srgbClr val="1B3A6B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966399" y="6080760"/>
            <a:ext cx="118872" cy="118872"/>
          </a:xfrm>
          <a:prstGeom prst="ellipse">
            <a:avLst/>
          </a:prstGeom>
          <a:solidFill>
            <a:srgbClr val="1B3A6B">
              <a:alpha val="6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222431" y="6080760"/>
            <a:ext cx="118872" cy="118872"/>
          </a:xfrm>
          <a:prstGeom prst="ellipse">
            <a:avLst/>
          </a:prstGeom>
          <a:solidFill>
            <a:srgbClr val="1B3A6B">
              <a:alpha val="46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19888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19888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WHY  THIS  EXISTS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最需要守住的是两类高风险问题，人工逐条查既慢又漏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留学作业交付前，真正要守住的是学术诚信红线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这不是挑错别字的活，是守住「能不能交」的红线。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1993392"/>
            <a:ext cx="3840480" cy="2651760"/>
          </a:xfrm>
          <a:prstGeom prst="roundRect">
            <a:avLst>
              <a:gd name="adj" fmla="val 3448"/>
            </a:avLst>
          </a:prstGeom>
          <a:solidFill>
            <a:srgbClr val="FBEDEB"/>
          </a:solidFill>
          <a:ln w="12700">
            <a:solidFill>
              <a:srgbClr val="EEC4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2139696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C039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3100" dirty="0"/>
          </a:p>
        </p:txBody>
      </p:sp>
      <p:sp>
        <p:nvSpPr>
          <p:cNvPr id="20" name="Text 18"/>
          <p:cNvSpPr/>
          <p:nvPr/>
        </p:nvSpPr>
        <p:spPr>
          <a:xfrm>
            <a:off x="859536" y="2688336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文献是编的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59536" y="3127248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参考文献根本不存在。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问 AI「这篇真吗」，它会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幻觉出一篇看着很真的假论文。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59536" y="4133088"/>
            <a:ext cx="2286000" cy="365760"/>
          </a:xfrm>
          <a:prstGeom prst="roundRect">
            <a:avLst>
              <a:gd name="adj" fmla="val 175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859536" y="41330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代价：学术诚信风险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27448" y="1993392"/>
            <a:ext cx="3840480" cy="2651760"/>
          </a:xfrm>
          <a:prstGeom prst="roundRect">
            <a:avLst>
              <a:gd name="adj" fmla="val 3448"/>
            </a:avLst>
          </a:prstGeom>
          <a:solidFill>
            <a:srgbClr val="EAF1FA"/>
          </a:solidFill>
          <a:ln w="12700">
            <a:solidFill>
              <a:srgbClr val="9CBE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0056" y="2139696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3A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3100" dirty="0"/>
          </a:p>
        </p:txBody>
      </p:sp>
      <p:sp>
        <p:nvSpPr>
          <p:cNvPr id="26" name="Text 24"/>
          <p:cNvSpPr/>
          <p:nvPr/>
        </p:nvSpPr>
        <p:spPr>
          <a:xfrm>
            <a:off x="5020056" y="2688336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引用被用反了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5020056" y="3127248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文献真实存在，但原文结论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与稿件拿它支撑的论点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方向相反。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20056" y="4133088"/>
            <a:ext cx="2286000" cy="365760"/>
          </a:xfrm>
          <a:prstGeom prst="roundRect">
            <a:avLst>
              <a:gd name="adj" fmla="val 17500"/>
            </a:avLst>
          </a:prstGeom>
          <a:solidFill>
            <a:srgbClr val="1B3A6B"/>
          </a:solidFill>
          <a:ln/>
        </p:spPr>
      </p:sp>
      <p:sp>
        <p:nvSpPr>
          <p:cNvPr id="29" name="Text 27"/>
          <p:cNvSpPr/>
          <p:nvPr/>
        </p:nvSpPr>
        <p:spPr>
          <a:xfrm>
            <a:off x="5020056" y="41330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代价：结论失真与返工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052560" y="20116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人工核查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098280" y="248716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9400032" y="239572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逐条找原文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098280" y="3054096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4" name="Text 32"/>
          <p:cNvSpPr/>
          <p:nvPr/>
        </p:nvSpPr>
        <p:spPr>
          <a:xfrm>
            <a:off x="9400032" y="296265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逐条比结论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098280" y="3621024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6" name="Text 34"/>
          <p:cNvSpPr/>
          <p:nvPr/>
        </p:nvSpPr>
        <p:spPr>
          <a:xfrm>
            <a:off x="9400032" y="3529584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仍可能漏查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422452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耗时长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9079992" y="47365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人工逐条回源，仍可能漏查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5559552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1B3A6B"/>
          </a:solidFill>
          <a:ln/>
        </p:spPr>
      </p:sp>
      <p:sp>
        <p:nvSpPr>
          <p:cNvPr id="40" name="Text 38"/>
          <p:cNvSpPr/>
          <p:nvPr/>
        </p:nvSpPr>
        <p:spPr>
          <a:xfrm>
            <a:off x="566928" y="5559552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这不是挑错别字的活，是守红线的活。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832104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8321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BEFORE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上周版本能出结果，但还不能承诺结果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一份作业发过来，系统已经有能力，但缺少可控制、可追责的过程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本周升级目标：把「模型流水线」变成「可被审计的组织」。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199339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7A5E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已经能做到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2340864"/>
            <a:ext cx="4937760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2569464"/>
            <a:ext cx="274320" cy="274320"/>
          </a:xfrm>
          <a:prstGeom prst="ellipse">
            <a:avLst/>
          </a:prstGeom>
          <a:solidFill>
            <a:srgbClr val="1E7A5E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5694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88136" y="2542032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三个厂商模型分工审一遍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85800" y="3136392"/>
            <a:ext cx="274320" cy="274320"/>
          </a:xfrm>
          <a:prstGeom prst="ellipse">
            <a:avLst/>
          </a:prstGeom>
          <a:solidFill>
            <a:srgbClr val="1E7A5E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136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88136" y="3108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假 DOI 走数据库真实核验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85800" y="3703320"/>
            <a:ext cx="274320" cy="274320"/>
          </a:xfrm>
          <a:prstGeom prst="ellipse">
            <a:avLst/>
          </a:prstGeom>
          <a:solidFill>
            <a:srgbClr val="1E7A5E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703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88136" y="367588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输出红／黄／绿灯与修改清单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85800" y="4270248"/>
            <a:ext cx="274320" cy="274320"/>
          </a:xfrm>
          <a:prstGeom prst="ellipse">
            <a:avLst/>
          </a:prstGeom>
          <a:solidFill>
            <a:srgbClr val="1E7A5E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2702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✓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88136" y="4242816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一条命令可复用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46520" y="199339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还做不到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446520" y="2340864"/>
            <a:ext cx="4937760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4" name="Shape 32"/>
          <p:cNvSpPr/>
          <p:nvPr/>
        </p:nvSpPr>
        <p:spPr>
          <a:xfrm>
            <a:off x="6446520" y="2569464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5" name="Text 33"/>
          <p:cNvSpPr/>
          <p:nvPr/>
        </p:nvSpPr>
        <p:spPr>
          <a:xfrm>
            <a:off x="6446520" y="25694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✕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48856" y="2542032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跑挂了，不知道卡在哪一步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6446520" y="3136392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8" name="Text 36"/>
          <p:cNvSpPr/>
          <p:nvPr/>
        </p:nvSpPr>
        <p:spPr>
          <a:xfrm>
            <a:off x="6446520" y="3136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✕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848856" y="3108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上一步没干净，下一步照跑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6446520" y="370332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41" name="Text 39"/>
          <p:cNvSpPr/>
          <p:nvPr/>
        </p:nvSpPr>
        <p:spPr>
          <a:xfrm>
            <a:off x="6446520" y="3703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✕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848856" y="367588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复核能看到主审答案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6446520" y="427024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44" name="Text 42"/>
          <p:cNvSpPr/>
          <p:nvPr/>
        </p:nvSpPr>
        <p:spPr>
          <a:xfrm>
            <a:off x="6446520" y="42702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✕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848856" y="4242816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结论无法回溯到证据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5943600" y="1993392"/>
            <a:ext cx="10973" cy="274320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47" name="Shape 45"/>
          <p:cNvSpPr/>
          <p:nvPr/>
        </p:nvSpPr>
        <p:spPr>
          <a:xfrm>
            <a:off x="566928" y="5559552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1B3A6B"/>
          </a:solidFill>
          <a:ln/>
        </p:spPr>
      </p:sp>
      <p:sp>
        <p:nvSpPr>
          <p:cNvPr id="48" name="Text 46"/>
          <p:cNvSpPr/>
          <p:nvPr/>
        </p:nvSpPr>
        <p:spPr>
          <a:xfrm>
            <a:off x="566928" y="5559552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能出结果  ≠  敢承诺结果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4754880" cy="2377440"/>
          </a:xfrm>
          <a:prstGeom prst="rtTriangle">
            <a:avLst/>
          </a:prstGeom>
          <a:solidFill>
            <a:srgbClr val="4A7EBB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10800000">
            <a:off x="8899855" y="0"/>
            <a:ext cx="3291840" cy="1737360"/>
          </a:xfrm>
          <a:prstGeom prst="rtTriangle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6400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BE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 SHIFT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237744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这周改的不是功能，是它的性质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33832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BEE3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从「跑完了吗」，到「敢不敢签字」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394960" y="4114800"/>
            <a:ext cx="1371600" cy="32004"/>
          </a:xfrm>
          <a:prstGeom prst="rect">
            <a:avLst/>
          </a:prstGeom>
          <a:solidFill>
            <a:srgbClr val="9CBEE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43891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BEE3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工具关心结果；组织关心谁做的、凭什么、能不能查。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454335" y="6080760"/>
            <a:ext cx="118872" cy="118872"/>
          </a:xfrm>
          <a:prstGeom prst="ellipse">
            <a:avLst/>
          </a:prstGeom>
          <a:solidFill>
            <a:srgbClr val="9CBEE3"/>
          </a:solidFill>
          <a:ln/>
        </p:spPr>
      </p:sp>
      <p:sp>
        <p:nvSpPr>
          <p:cNvPr id="10" name="Shape 8"/>
          <p:cNvSpPr/>
          <p:nvPr/>
        </p:nvSpPr>
        <p:spPr>
          <a:xfrm>
            <a:off x="10710367" y="6080760"/>
            <a:ext cx="118872" cy="118872"/>
          </a:xfrm>
          <a:prstGeom prst="ellipse">
            <a:avLst/>
          </a:prstGeom>
          <a:solidFill>
            <a:srgbClr val="9CBEE3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66399" y="6080760"/>
            <a:ext cx="118872" cy="118872"/>
          </a:xfrm>
          <a:prstGeom prst="ellipse">
            <a:avLst/>
          </a:prstGeom>
          <a:solidFill>
            <a:srgbClr val="9CBEE3">
              <a:alpha val="6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222431" y="6080760"/>
            <a:ext cx="118872" cy="118872"/>
          </a:xfrm>
          <a:prstGeom prst="ellipse">
            <a:avLst/>
          </a:prstGeom>
          <a:solidFill>
            <a:srgbClr val="9CBEE3">
              <a:alpha val="46000"/>
            </a:srgbClr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1357884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13578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UPGRADE 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给每一步定状态，跑挂了能立刻定位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五种状态由程序判定并独占写入，不接受 Agent 自报「我完成了」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业务价值：失败不会被当成成功继续往下传，能定位到「第几步、谁没交货」。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2148840"/>
            <a:ext cx="1051560" cy="1051560"/>
          </a:xfrm>
          <a:prstGeom prst="ellipse">
            <a:avLst/>
          </a:prstGeom>
          <a:solidFill>
            <a:srgbClr val="8896A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21488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94360" y="3310128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89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BLOCKED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103120" y="2633472"/>
            <a:ext cx="118872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2" name="Shape 20"/>
          <p:cNvSpPr/>
          <p:nvPr/>
        </p:nvSpPr>
        <p:spPr>
          <a:xfrm>
            <a:off x="3429000" y="2148840"/>
            <a:ext cx="1051560" cy="1051560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21488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108960" y="3310128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7EB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617720" y="2633472"/>
            <a:ext cx="118872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0" y="2148840"/>
            <a:ext cx="1051560" cy="105156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21488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623560" y="3310128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RUNNING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132320" y="2633472"/>
            <a:ext cx="118872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0" name="Shape 28"/>
          <p:cNvSpPr/>
          <p:nvPr/>
        </p:nvSpPr>
        <p:spPr>
          <a:xfrm>
            <a:off x="8458200" y="2148840"/>
            <a:ext cx="1051560" cy="1051560"/>
          </a:xfrm>
          <a:prstGeom prst="ellipse">
            <a:avLst/>
          </a:prstGeom>
          <a:solidFill>
            <a:srgbClr val="1E7A5E"/>
          </a:solidFill>
          <a:ln/>
        </p:spPr>
      </p:sp>
      <p:sp>
        <p:nvSpPr>
          <p:cNvPr id="31" name="Text 29"/>
          <p:cNvSpPr/>
          <p:nvPr/>
        </p:nvSpPr>
        <p:spPr>
          <a:xfrm>
            <a:off x="8458200" y="21488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8138160" y="3310128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7A5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COMPLETED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46520" y="3200400"/>
            <a:ext cx="45720" cy="105156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Shape 32"/>
          <p:cNvSpPr/>
          <p:nvPr/>
        </p:nvSpPr>
        <p:spPr>
          <a:xfrm>
            <a:off x="5943600" y="4224528"/>
            <a:ext cx="1051560" cy="10515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0" y="4224528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!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114032" y="457200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FAILED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2103120" y="4727448"/>
            <a:ext cx="3840480" cy="32004"/>
          </a:xfrm>
          <a:prstGeom prst="rect">
            <a:avLst/>
          </a:prstGeom>
          <a:solidFill>
            <a:srgbClr val="C0392B">
              <a:alpha val="6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2103120" y="431596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修复依赖后回到 READY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503920" y="416052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EAF1FA"/>
          </a:solidFill>
          <a:ln w="12700">
            <a:solidFill>
              <a:srgbClr val="9CB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32520" y="427939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COMPLETED 判据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732520" y="459028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exit 0  +  产物字节数 &gt; 0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1357884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13578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UPGRADE  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给每一关设凭证，杜绝「差不多就过」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五道闸门是许可链，不是装饰性的流程图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业务价值：文献没核完不准判断；强核未一致不准放行。顺序本身就是权限。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68680" y="2194560"/>
            <a:ext cx="1554480" cy="1371600"/>
          </a:xfrm>
          <a:prstGeom prst="diamond">
            <a:avLst/>
          </a:prstGeom>
          <a:solidFill>
            <a:srgbClr val="1B3A6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219456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G1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来源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703320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来源已声明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496312" y="2852928"/>
            <a:ext cx="54864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2" name="Shape 20"/>
          <p:cNvSpPr/>
          <p:nvPr/>
        </p:nvSpPr>
        <p:spPr>
          <a:xfrm>
            <a:off x="3081528" y="2194560"/>
            <a:ext cx="1554480" cy="1371600"/>
          </a:xfrm>
          <a:prstGeom prst="diamond">
            <a:avLst/>
          </a:prstGeom>
          <a:solidFill>
            <a:srgbClr val="1B3A6B"/>
          </a:solidFill>
          <a:ln/>
        </p:spPr>
      </p:sp>
      <p:sp>
        <p:nvSpPr>
          <p:cNvPr id="23" name="Text 21"/>
          <p:cNvSpPr/>
          <p:nvPr/>
        </p:nvSpPr>
        <p:spPr>
          <a:xfrm>
            <a:off x="3081528" y="219456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G2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基线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852928" y="3703320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稿件已冻结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709160" y="2852928"/>
            <a:ext cx="54864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6" name="Shape 24"/>
          <p:cNvSpPr/>
          <p:nvPr/>
        </p:nvSpPr>
        <p:spPr>
          <a:xfrm>
            <a:off x="5294376" y="2194560"/>
            <a:ext cx="1554480" cy="1371600"/>
          </a:xfrm>
          <a:prstGeom prst="diamond">
            <a:avLst/>
          </a:prstGeom>
          <a:solidFill>
            <a:srgbClr val="1B3A6B"/>
          </a:solidFill>
          <a:ln/>
        </p:spPr>
      </p:sp>
      <p:sp>
        <p:nvSpPr>
          <p:cNvPr id="27" name="Text 25"/>
          <p:cNvSpPr/>
          <p:nvPr/>
        </p:nvSpPr>
        <p:spPr>
          <a:xfrm>
            <a:off x="5294376" y="219456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G3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文献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65776" y="3703320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DOI 有回执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922008" y="2852928"/>
            <a:ext cx="54864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0" name="Shape 28"/>
          <p:cNvSpPr/>
          <p:nvPr/>
        </p:nvSpPr>
        <p:spPr>
          <a:xfrm>
            <a:off x="7507224" y="2194560"/>
            <a:ext cx="1554480" cy="1371600"/>
          </a:xfrm>
          <a:prstGeom prst="diamond">
            <a:avLst/>
          </a:prstGeom>
          <a:solidFill>
            <a:srgbClr val="1B3A6B"/>
          </a:solidFill>
          <a:ln/>
        </p:spPr>
      </p:sp>
      <p:sp>
        <p:nvSpPr>
          <p:cNvPr id="31" name="Text 29"/>
          <p:cNvSpPr/>
          <p:nvPr/>
        </p:nvSpPr>
        <p:spPr>
          <a:xfrm>
            <a:off x="7507224" y="219456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G4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双强核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78624" y="3703320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关键事实 2/2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9134856" y="2852928"/>
            <a:ext cx="54864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4" name="Shape 32"/>
          <p:cNvSpPr/>
          <p:nvPr/>
        </p:nvSpPr>
        <p:spPr>
          <a:xfrm>
            <a:off x="9720072" y="2194560"/>
            <a:ext cx="1554480" cy="1371600"/>
          </a:xfrm>
          <a:prstGeom prst="diamond">
            <a:avLst/>
          </a:prstGeom>
          <a:solidFill>
            <a:srgbClr val="1E7A5E"/>
          </a:solidFill>
          <a:ln/>
        </p:spPr>
      </p:sp>
      <p:sp>
        <p:nvSpPr>
          <p:cNvPr id="35" name="Text 33"/>
          <p:cNvSpPr/>
          <p:nvPr/>
        </p:nvSpPr>
        <p:spPr>
          <a:xfrm>
            <a:off x="9720072" y="219456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G5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放行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491472" y="3703320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八板块齐全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2926080" y="4434840"/>
            <a:ext cx="6035040" cy="32004"/>
          </a:xfrm>
          <a:prstGeom prst="rect">
            <a:avLst/>
          </a:prstGeom>
          <a:solidFill>
            <a:srgbClr val="C0392B">
              <a:alpha val="7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2926080" y="4553712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任一凭证缺失：阻断并回到对应环节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1357884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13578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UPGRADE  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把拍板权写死，换谁来跑都遵守同一套规则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「责、权、利」进入正式 Agent 契约，不再依赖临场默契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AI 有提议权，没有上膛权；「利」不是工资，而是下一次继续被加载的资格。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199339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角色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91840" y="199339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责：必须交什么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92240" y="199339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权：能决定什么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144000" y="199339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利：为何被复用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7240" y="2340864"/>
            <a:ext cx="10607040" cy="1828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" y="2414016"/>
            <a:ext cx="10881360" cy="713232"/>
          </a:xfrm>
          <a:prstGeom prst="rect">
            <a:avLst/>
          </a:prstGeom>
          <a:solidFill>
            <a:srgbClr val="EAF1FA">
              <a:alpha val="6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248716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主审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91840" y="248716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按 D1–D7 给出判断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92240" y="248716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强核票 1 / 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44000" y="248716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结论可回溯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77240" y="327355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复核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291840" y="327355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回原文核验关键事实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92240" y="327355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强核票 1 / 2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0" y="327355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证据可复现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40080" y="3986784"/>
            <a:ext cx="10881360" cy="713232"/>
          </a:xfrm>
          <a:prstGeom prst="rect">
            <a:avLst/>
          </a:prstGeom>
          <a:solidFill>
            <a:srgbClr val="EAF1FA">
              <a:alpha val="6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405993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整理者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291840" y="405993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机械扫描并组织报告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405993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无票，可阻断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144000" y="405993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产物可检查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66928" y="5559552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1B3A6B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5559552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三个 Agent 都不直接写文件；编排器统一落盘，责任链才唯一。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1252728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1252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END-TO-END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DIP 与质检将串成一条线，生产闭环仍待实跑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从「写完了」到「敢交了」，每一次交接都留下可核验的指纹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业务价值：冻结后任何改动都能被发现，交付责任不再靠口头解释。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240280"/>
            <a:ext cx="1188720" cy="1188720"/>
          </a:xfrm>
          <a:prstGeom prst="ellipse">
            <a:avLst/>
          </a:prstGeom>
          <a:solidFill>
            <a:srgbClr val="1B3A6B"/>
          </a:solidFill>
          <a:ln w="19050">
            <a:solidFill>
              <a:srgbClr val="9CB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22402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93192" y="356616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DIP 产稿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93192" y="387705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接口已实现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258568" y="2807208"/>
            <a:ext cx="1298448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3" name="Shape 21"/>
          <p:cNvSpPr/>
          <p:nvPr/>
        </p:nvSpPr>
        <p:spPr>
          <a:xfrm>
            <a:off x="3703320" y="2240280"/>
            <a:ext cx="1188720" cy="1188720"/>
          </a:xfrm>
          <a:prstGeom prst="ellipse">
            <a:avLst/>
          </a:prstGeom>
          <a:solidFill>
            <a:srgbClr val="1B3A6B"/>
          </a:solidFill>
          <a:ln w="19050">
            <a:solidFill>
              <a:srgbClr val="9CBE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03320" y="22402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136392" y="356616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SHA-256 冻结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136392" y="387705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适配器已测试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01768" y="2807208"/>
            <a:ext cx="1298448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46520" y="2240280"/>
            <a:ext cx="1188720" cy="1188720"/>
          </a:xfrm>
          <a:prstGeom prst="ellipse">
            <a:avLst/>
          </a:prstGeom>
          <a:solidFill>
            <a:srgbClr val="1B3A6B"/>
          </a:solidFill>
          <a:ln w="19050">
            <a:solidFill>
              <a:srgbClr val="9CBE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22402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79592" y="356616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QC-Team 验稿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879592" y="387705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走完五道闸门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44968" y="2807208"/>
            <a:ext cx="1298448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3" name="Shape 31"/>
          <p:cNvSpPr/>
          <p:nvPr/>
        </p:nvSpPr>
        <p:spPr>
          <a:xfrm>
            <a:off x="9189720" y="2240280"/>
            <a:ext cx="1188720" cy="1188720"/>
          </a:xfrm>
          <a:prstGeom prst="ellipse">
            <a:avLst/>
          </a:prstGeom>
          <a:solidFill>
            <a:srgbClr val="1B3A6B"/>
          </a:solidFill>
          <a:ln w="19050">
            <a:solidFill>
              <a:srgbClr val="9CBE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89720" y="22402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622792" y="356616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放行判断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622792" y="387705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完整链路待实跑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377440" y="4526280"/>
            <a:ext cx="74066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2700">
            <a:solidFill>
              <a:srgbClr val="EEC4B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77440" y="4526280"/>
            <a:ext cx="7406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边界：交接脚本与测试已完成，真实 DIP production run 尚未发生。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1042416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10424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一次真实运行：假 DOI 被拦下，最终报告给出红灯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证据不放在口头承诺里，而放在运行记录、测试与可观察会话里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本次运行走 legacy 入口（python3 qc.py），五道闸门属 audited 入口，尚未在生产中跑过。　Agent View 是可观测层，不是 Agent Team 本身。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2057400"/>
            <a:ext cx="1371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822960" y="266090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项自动化测试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3108960"/>
            <a:ext cx="1371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22960" y="37124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次真实自动触发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4160520"/>
            <a:ext cx="1371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7EB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822960" y="47640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轮模型交互（单次运行内）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7240" y="5230368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v1 曾因软链接失效与权限拒绝失败，v2 收紧 allowlist 后通过。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160520" y="1920240"/>
            <a:ext cx="74066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C"/>
            </a:solidFill>
            <a:prstDash val="solid"/>
          </a:ln>
        </p:spPr>
      </p:sp>
      <p:pic>
        <p:nvPicPr>
          <p:cNvPr id="26" name="Image 0" descr="/Users/wangcaidi/Desktop/qc-team/presentation/evidence/claudepot-success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15968" y="2029968"/>
            <a:ext cx="7095744" cy="1609344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160520" y="3886200"/>
            <a:ext cx="74066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C"/>
            </a:solidFill>
            <a:prstDash val="solid"/>
          </a:ln>
        </p:spPr>
      </p:sp>
      <p:pic>
        <p:nvPicPr>
          <p:cNvPr id="28" name="Image 1" descr="/Users/wangcaidi/Desktop/qc-team/presentation/evidence/agent-view-completed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3995928"/>
            <a:ext cx="7095744" cy="1609344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434840" y="2048256"/>
            <a:ext cx="214884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/>
        </p:spPr>
      </p:sp>
      <p:sp>
        <p:nvSpPr>
          <p:cNvPr id="30" name="Text 26"/>
          <p:cNvSpPr/>
          <p:nvPr/>
        </p:nvSpPr>
        <p:spPr>
          <a:xfrm>
            <a:off x="4434840" y="2048256"/>
            <a:ext cx="2148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Claudepot · success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434840" y="4014216"/>
            <a:ext cx="214884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/>
        </p:spPr>
      </p:sp>
      <p:sp>
        <p:nvSpPr>
          <p:cNvPr id="32" name="Text 28"/>
          <p:cNvSpPr/>
          <p:nvPr/>
        </p:nvSpPr>
        <p:spPr>
          <a:xfrm>
            <a:off x="4434840" y="4014216"/>
            <a:ext cx="2148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Agent View · completed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621792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6217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NEXT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三项尚未完成，已明确列出并给出路径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把「定义了、测过了、真实跑过了」分开，可信度比全绿更重要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GitHub · github.com/wangfeifei-321/qc-team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1993392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尚未完成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66560" y="1993392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7240" y="2395728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12700">
            <a:solidFill>
              <a:srgbClr val="EEC4B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2395728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72768" y="2395728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旧入口仍是单轮串联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70448" y="2711196"/>
            <a:ext cx="777240" cy="27432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4" name="Shape 22"/>
          <p:cNvSpPr/>
          <p:nvPr/>
        </p:nvSpPr>
        <p:spPr>
          <a:xfrm>
            <a:off x="6766560" y="2395728"/>
            <a:ext cx="4617720" cy="658368"/>
          </a:xfrm>
          <a:prstGeom prst="roundRect">
            <a:avLst>
              <a:gd name="adj" fmla="val 11111"/>
            </a:avLst>
          </a:prstGeom>
          <a:solidFill>
            <a:srgbClr val="EAF1FA"/>
          </a:solidFill>
          <a:ln w="12700">
            <a:solidFill>
              <a:srgbClr val="9CBE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67728" y="2395728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升级为独立首轮与多轮回源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3236976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12700">
            <a:solidFill>
              <a:srgbClr val="EEC4B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236976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572768" y="3236976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分歧后回原文闭环未实现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870448" y="3552444"/>
            <a:ext cx="777240" cy="27432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0" name="Shape 28"/>
          <p:cNvSpPr/>
          <p:nvPr/>
        </p:nvSpPr>
        <p:spPr>
          <a:xfrm>
            <a:off x="6766560" y="3236976"/>
            <a:ext cx="4617720" cy="658368"/>
          </a:xfrm>
          <a:prstGeom prst="roundRect">
            <a:avLst>
              <a:gd name="adj" fmla="val 11111"/>
            </a:avLst>
          </a:prstGeom>
          <a:solidFill>
            <a:srgbClr val="EAF1FA"/>
          </a:solidFill>
          <a:ln w="12700">
            <a:solidFill>
              <a:srgbClr val="9CBE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67728" y="3236976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最多三轮，无共识转人工裁决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078224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12700">
            <a:solidFill>
              <a:srgbClr val="EEC4B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0120" y="4078224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572768" y="4078224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DIP 真实生产运行尚未跑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870448" y="4393692"/>
            <a:ext cx="777240" cy="27432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66560" y="4078224"/>
            <a:ext cx="4617720" cy="658368"/>
          </a:xfrm>
          <a:prstGeom prst="roundRect">
            <a:avLst>
              <a:gd name="adj" fmla="val 11111"/>
            </a:avLst>
          </a:prstGeom>
          <a:solidFill>
            <a:srgbClr val="EAF1FA"/>
          </a:solidFill>
          <a:ln w="12700">
            <a:solidFill>
              <a:srgbClr val="9CB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67728" y="4078224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用 frozen manifest 跑一次生产链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5650992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1B3A6B"/>
          </a:solidFill>
          <a:ln/>
        </p:spPr>
      </p:sp>
      <p:sp>
        <p:nvSpPr>
          <p:cNvPr id="39" name="Text 37"/>
          <p:cNvSpPr/>
          <p:nvPr/>
        </p:nvSpPr>
        <p:spPr>
          <a:xfrm>
            <a:off x="566928" y="5650992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没做到的主动写清楚，比让别人从证据里问出来更可信。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QC-Team 作业质检系统</dc:title>
  <dc:subject>PptxGenJS Presentation</dc:subject>
  <dc:creator>王彩迪</dc:creator>
  <cp:lastModifiedBy>王彩迪</cp:lastModifiedBy>
  <cp:revision>1</cp:revision>
  <dcterms:created xsi:type="dcterms:W3CDTF">2026-08-25T08:01:14Z</dcterms:created>
  <dcterms:modified xsi:type="dcterms:W3CDTF">2026-08-25T08:01:14Z</dcterms:modified>
</cp:coreProperties>
</file>